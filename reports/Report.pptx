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4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Canada</c:v>
                </c:pt>
                <c:pt idx="1">
                  <c:v>Germany</c:v>
                </c:pt>
                <c:pt idx="2">
                  <c:v>United Kingdom</c:v>
                </c:pt>
                <c:pt idx="3">
                  <c:v>France</c:v>
                </c:pt>
                <c:pt idx="4">
                  <c:v>United States</c:v>
                </c:pt>
                <c:pt idx="5">
                  <c:v>Australia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25920</c:v>
                </c:pt>
                <c:pt idx="1">
                  <c:v>54320</c:v>
                </c:pt>
                <c:pt idx="2">
                  <c:v>62640</c:v>
                </c:pt>
                <c:pt idx="3">
                  <c:v>63750</c:v>
                </c:pt>
                <c:pt idx="4">
                  <c:v>120420</c:v>
                </c:pt>
                <c:pt idx="5">
                  <c:v>186410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83-4309-AD75-307B2316FB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E8C30-EE05-4BF1-8F73-2D4FE1A9EF1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39624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8685213"/>
            <a:ext cx="39624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2C412-CCCD-4E63-904D-EA16DBED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15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deo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 Recording 2026-09-13 195106">
            <a:hlinkClick r:id="" action="ppaction://media"/>
            <a:extLst>
              <a:ext uri="{FF2B5EF4-FFF2-40B4-BE49-F238E27FC236}">
                <a16:creationId xmlns:a16="http://schemas.microsoft.com/office/drawing/2014/main" id="{6F3F080A-152A-F625-1521-5731B2074A8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095500"/>
            <a:ext cx="9144000" cy="49514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6949440"/>
            <a:ext cx="3291840" cy="32918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92240" y="8229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بيانات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</a:t>
            </a:r>
            <a:r>
              <a:rPr lang="ar-EG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أسئلة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سألتها</a:t>
            </a:r>
            <a:endParaRPr lang="en-US" sz="40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chartقبل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ما أرسم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أي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126480" y="5257800"/>
            <a:ext cx="2377440" cy="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486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</a:t>
            </a: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مبيعات دراجات — Power BI · Excel · DAX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7955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89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 Aweys  · 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548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0" y="548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</a:t>
            </a:r>
            <a:r>
              <a:rPr lang="ar-EG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الداتا الخام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709160" y="25146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27569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2756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514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27569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2756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14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عمر العميل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09160" y="34290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36713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92440" y="3671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العميل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0" y="36713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31920" y="3671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الدولة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43434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23" name="Shape 21"/>
          <p:cNvSpPr/>
          <p:nvPr/>
        </p:nvSpPr>
        <p:spPr>
          <a:xfrm>
            <a:off x="8092440" y="45857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92440" y="45857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الولاية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27" name="Shape 25"/>
          <p:cNvSpPr/>
          <p:nvPr/>
        </p:nvSpPr>
        <p:spPr>
          <a:xfrm>
            <a:off x="3931920" y="45857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31920" y="45857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343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 الفرعية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09160" y="52578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55001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92440" y="55001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5257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 الدراجة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35" name="Shape 33"/>
          <p:cNvSpPr/>
          <p:nvPr/>
        </p:nvSpPr>
        <p:spPr>
          <a:xfrm>
            <a:off x="3931920" y="55001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931920" y="55001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5257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المنتج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709160" y="61722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2440" y="64145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092440" y="6414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892040" y="6172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الكمية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48640" y="61722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43" name="Shape 41"/>
          <p:cNvSpPr/>
          <p:nvPr/>
        </p:nvSpPr>
        <p:spPr>
          <a:xfrm>
            <a:off x="3931920" y="64145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931920" y="6414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6172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 الوحدة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709160" y="7086600"/>
            <a:ext cx="3886200" cy="777240"/>
          </a:xfrm>
          <a:prstGeom prst="roundRect">
            <a:avLst>
              <a:gd name="adj" fmla="val 10588"/>
            </a:avLst>
          </a:prstGeom>
          <a:solidFill>
            <a:srgbClr val="EEF3FD"/>
          </a:solidFill>
          <a:ln/>
        </p:spPr>
      </p:sp>
      <p:sp>
        <p:nvSpPr>
          <p:cNvPr id="47" name="Shape 45"/>
          <p:cNvSpPr/>
          <p:nvPr/>
        </p:nvSpPr>
        <p:spPr>
          <a:xfrm>
            <a:off x="8092440" y="73289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092440" y="7328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892040" y="7086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 الوحدة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8046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كافية إنك تسجّل عملية بيع… مش كافية إنك تجاوب على سؤال بيزنس.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548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766560" y="548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</a:t>
            </a:r>
            <a:r>
              <a:rPr lang="ar-EG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الأعمدة </a:t>
            </a:r>
            <a:r>
              <a:rPr lang="en-US" sz="30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اللي</a:t>
            </a: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زودتها</a:t>
            </a:r>
            <a:r>
              <a:rPr lang="ar-EG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... </a:t>
            </a:r>
            <a:r>
              <a:rPr lang="en-US" sz="30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وليه</a:t>
            </a:r>
            <a:r>
              <a:rPr lang="ar-EG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EF3FD"/>
          </a:solidFill>
          <a:ln/>
        </p:spPr>
      </p:sp>
      <p:sp>
        <p:nvSpPr>
          <p:cNvPr id="6" name="Shape 4"/>
          <p:cNvSpPr/>
          <p:nvPr/>
        </p:nvSpPr>
        <p:spPr>
          <a:xfrm>
            <a:off x="8092440" y="215341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21534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8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659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6596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تقسيم العملاء بالعقد بدل العمر الرقمي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EF3FD"/>
          </a:solidFill>
          <a:ln/>
        </p:spPr>
      </p:sp>
      <p:sp>
        <p:nvSpPr>
          <p:cNvPr id="11" name="Shape 9"/>
          <p:cNvSpPr/>
          <p:nvPr/>
        </p:nvSpPr>
        <p:spPr>
          <a:xfrm>
            <a:off x="8092440" y="325069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3250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8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0632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0632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عملية البيع الفعلية (السعر × الكمية)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EF3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434797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92440" y="4347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8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1605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Revenue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6052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الربح لكل وحدة (السعر − التكلفة)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EF3FD"/>
          </a:solidFill>
          <a:ln/>
        </p:spPr>
      </p:sp>
      <p:sp>
        <p:nvSpPr>
          <p:cNvPr id="21" name="Shape 19"/>
          <p:cNvSpPr/>
          <p:nvPr/>
        </p:nvSpPr>
        <p:spPr>
          <a:xfrm>
            <a:off x="8092440" y="544525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92440" y="54452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8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2578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25780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الربح الكلي لكل عملية بيع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EF3FD"/>
          </a:solidFill>
          <a:ln/>
        </p:spPr>
      </p:sp>
      <p:sp>
        <p:nvSpPr>
          <p:cNvPr id="26" name="Shape 24"/>
          <p:cNvSpPr/>
          <p:nvPr/>
        </p:nvSpPr>
        <p:spPr>
          <a:xfrm>
            <a:off x="8092440" y="654253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92440" y="65425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8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6355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635508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فصلته من اسم المنتج، كان مدمج معاه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548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0" y="548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</a:t>
            </a:r>
            <a:r>
              <a:rPr lang="ar-EG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مين هو العميل المستهدف؟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04672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03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إجمالي الإيراد جايين من عملاء العشرينات والثلاثينات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513,000$  ←  311,000$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EEF3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544068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722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ستات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09160" y="530352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EEF3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544068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61722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رجال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7178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بين الجنسين شبه </a:t>
            </a:r>
            <a:r>
              <a:rPr lang="en-US" sz="1400" b="1" i="1" dirty="0" err="1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متساوي</a:t>
            </a:r>
            <a:r>
              <a:rPr lang="en-US" sz="1400" b="1" i="1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1400" b="1" i="1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i="1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الفئة العمرية أهم من النوع هنا.</a:t>
            </a:r>
            <a:endParaRPr lang="en-US" sz="1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548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0" y="548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</a:t>
            </a:r>
            <a:r>
              <a:rPr lang="ar-EG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إحنا رابحين فين؟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الربح (Total Revenue) حسب الدولة، بالدولار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331720"/>
          <a:ext cx="8046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858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68580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أستراليا</a:t>
            </a: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لوحدها</a:t>
            </a: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بتجيب</a:t>
            </a: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EG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algn="ctr"/>
            <a:r>
              <a:rPr lang="ar-EG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r>
              <a:rPr lang="ar-EG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</a:t>
            </a: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الربح</a:t>
            </a:r>
            <a:endParaRPr lang="en-US" sz="1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548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0" y="548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نفس المنتج… سوق مختلف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Road Bikes مقابل Mountain Bikes حسب الدولة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05840" y="384048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2C3A8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840480"/>
            <a:ext cx="2018995" cy="640080"/>
          </a:xfrm>
          <a:prstGeom prst="roundRect">
            <a:avLst>
              <a:gd name="adj" fmla="val 11429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754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Bikes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 Bikes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EEF3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788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12080" y="384048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0" y="3840480"/>
            <a:ext cx="1667866" cy="640080"/>
          </a:xfrm>
          <a:prstGeom prst="roundRect">
            <a:avLst>
              <a:gd name="adj" fmla="val 11429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4754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5349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Bikes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6263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 Bikes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7040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الكتالوج، سلوك شراء مختلف — استراتيجية تسويق واحدة مش هتظبط للسوقين.</a:t>
            </a:r>
            <a:endParaRPr lang="en-US" sz="15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548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0" y="548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</a:t>
            </a:r>
            <a:r>
              <a:rPr lang="ar-EG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اختيار اللون مش عشوائي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الطلبات لكل لون حسب النوع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2624328"/>
            <a:ext cx="512064" cy="51206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23774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88336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2920136" y="2688336"/>
            <a:ext cx="2840584" cy="384048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20136" y="2377440"/>
            <a:ext cx="28405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رجال 57%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377440"/>
            <a:ext cx="21428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ستات 43%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3758184"/>
            <a:ext cx="512064" cy="512064"/>
          </a:xfrm>
          <a:prstGeom prst="ellipse">
            <a:avLst/>
          </a:prstGeom>
          <a:solidFill>
            <a:srgbClr val="9AA0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511296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822192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7824" y="3822192"/>
            <a:ext cx="2142896" cy="384048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17824" y="3511296"/>
            <a:ext cx="21428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رجال 43%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11296"/>
            <a:ext cx="28405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ستات 57%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45152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0" y="4892040"/>
            <a:ext cx="512064" cy="512064"/>
          </a:xfrm>
          <a:prstGeom prst="ellipse">
            <a:avLst/>
          </a:prstGeom>
          <a:solidFill>
            <a:srgbClr val="D4AC0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464515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4956048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7824" y="4956048"/>
            <a:ext cx="2142896" cy="384048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17824" y="4645152"/>
            <a:ext cx="21428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رجال 43%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45152"/>
            <a:ext cx="28405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ستات 57%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779008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EEF3FD"/>
          </a:solidFill>
          <a:ln/>
        </p:spPr>
      </p:sp>
      <p:sp>
        <p:nvSpPr>
          <p:cNvPr id="28" name="Shape 26"/>
          <p:cNvSpPr/>
          <p:nvPr/>
        </p:nvSpPr>
        <p:spPr>
          <a:xfrm>
            <a:off x="8001000" y="6025896"/>
            <a:ext cx="512064" cy="51206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577900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7240" y="6089904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3268980" y="6089904"/>
            <a:ext cx="2491740" cy="384048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68980" y="5779008"/>
            <a:ext cx="24917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رجال 50%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779008"/>
            <a:ext cx="24917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ستات 50%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7909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الأسود هو اللون الوحيد المتوازن بين الجنسين </a:t>
            </a:r>
            <a:r>
              <a:rPr lang="en-US" sz="1400" b="1" i="1" dirty="0" err="1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تمامًا</a:t>
            </a:r>
            <a:r>
              <a:rPr lang="en-US" sz="1400" b="1" i="1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731520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548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0" y="548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</a:t>
            </a:r>
            <a:r>
              <a:rPr lang="ar-EG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قاعدة الـ 80/20… اتأكدت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7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إجمالي قيمة المبيعات جاي من 4 منتجات بس من أصل 15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80467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Road-150 Red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80467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4805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Road-750 Black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80467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98348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Mountain-200 Black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80467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48640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Road-550-W Yellow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83280" y="6263640"/>
            <a:ext cx="237744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6400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رسمة في الداشبورد ده كانت بترد على سؤال اتكتب قبلها.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7589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 ·  DAX  ·  Excel PivotTables  ·  Data Modeling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353</Words>
  <Application>Microsoft Office PowerPoint</Application>
  <PresentationFormat>Custom</PresentationFormat>
  <Paragraphs>110</Paragraphs>
  <Slides>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Reem Awyes</cp:lastModifiedBy>
  <cp:revision>2</cp:revision>
  <dcterms:created xsi:type="dcterms:W3CDTF">2026-09-13T16:48:20Z</dcterms:created>
  <dcterms:modified xsi:type="dcterms:W3CDTF">2026-09-14T10:46:26Z</dcterms:modified>
</cp:coreProperties>
</file>